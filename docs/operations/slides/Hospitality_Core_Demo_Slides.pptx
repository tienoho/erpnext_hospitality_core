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Công suất phòng (minh họa)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4F76"/>
              </a:solidFill>
              <a:effectLst/>
            </c:spPr>
          </c:dPt>
          <c:dPt>
            <c:idx val="1"/>
            <c:bubble3D val="0"/>
            <c:spPr>
              <a:solidFill>
                <a:srgbClr val="DCE7E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2293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2293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Đang lưu trú</c:v>
                </c:pt>
                <c:pt idx="1">
                  <c:v>Còn trống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76</c:v>
                </c:pt>
                <c:pt idx="1">
                  <c:v>24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3-1.png"/><Relationship Id="rId3" Type="http://schemas.openxmlformats.org/officeDocument/2006/relationships/image" Target="../media/image-13-2.png"/><Relationship Id="rId4" Type="http://schemas.openxmlformats.org/officeDocument/2006/relationships/image" Target="../media/image-13-3.png"/><Relationship Id="rId5" Type="http://schemas.openxmlformats.org/officeDocument/2006/relationships/image" Target="../media/image-13-4.png"/><Relationship Id="rId6" Type="http://schemas.openxmlformats.org/officeDocument/2006/relationships/image" Target="../media/image-13-5.png"/><Relationship Id="rId7" Type="http://schemas.openxmlformats.org/officeDocument/2006/relationships/image" Target="../media/image-13-6.png"/><Relationship Id="rId8" Type="http://schemas.openxmlformats.org/officeDocument/2006/relationships/image" Target="../media/image-13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2743200"/>
            <a:ext cx="7772400" cy="7772400"/>
          </a:xfrm>
          <a:prstGeom prst="ellipse">
            <a:avLst/>
          </a:prstGeom>
          <a:solidFill>
            <a:srgbClr val="0B4F76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206240"/>
            <a:ext cx="5486400" cy="548640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394960"/>
            <a:ext cx="3291840" cy="3291840"/>
          </a:xfrm>
          <a:prstGeom prst="ellipse">
            <a:avLst/>
          </a:prstGeom>
          <a:solidFill>
            <a:srgbClr val="3FA9A0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713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CÔNG CỤ TRÌNH DIỄN HỆ THỐNG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286000"/>
            <a:ext cx="9326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Hospitality Core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31012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thế hệ mới cho Tuần Châu Resort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8587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demo trình diễn chức năng  ·  Thay thế toàn diện Smile PMS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97280" y="5029200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5148072"/>
            <a:ext cx="219456" cy="2194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737360" y="5102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Công Tác Dự Án ERP  ·  Tập Đoàn Tuần Châu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Cần Một Nền Tảng Duy Nhất?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0732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 PMS — 3 HỆ THỐNG RỜI RẠC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" y="25603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69107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5420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 FO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8346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Lễ tân đặt phòng, check-in/out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" y="354787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" y="3678631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35295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 POS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8221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hàng nhà hàng, quầy bar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68680" y="4535424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4666183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45171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 BO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480974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toán, kho, tài sản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68680" y="5394960"/>
            <a:ext cx="4617720" cy="502920"/>
          </a:xfrm>
          <a:prstGeom prst="roundRect">
            <a:avLst>
              <a:gd name="adj" fmla="val 50909"/>
            </a:avLst>
          </a:prstGeom>
          <a:solidFill>
            <a:srgbClr val="C1443B">
              <a:alpha val="85000"/>
            </a:srgbClr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48640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539496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thủ công — Night Audit chạy đêm mới khớp số liệu</a:t>
            </a:r>
            <a:endParaRPr lang="en-US" sz="11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3611880"/>
            <a:ext cx="640080" cy="64008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400800" y="169164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1F6F9"/>
          </a:solidFill>
          <a:ln w="12700">
            <a:solidFill>
              <a:srgbClr val="DC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23" name="Text 16"/>
          <p:cNvSpPr txBox="1"/>
          <p:nvPr/>
        </p:nvSpPr>
        <p:spPr>
          <a:xfrm>
            <a:off x="6720840" y="1965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B4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CORE — 1 NỀN TẢNG DUY NHẤT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8526780" y="2606040"/>
            <a:ext cx="1005840" cy="1005840"/>
          </a:xfrm>
          <a:prstGeom prst="roundRect">
            <a:avLst>
              <a:gd name="adj" fmla="val 28000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298" y="2867558"/>
            <a:ext cx="482803" cy="482803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720840" y="37490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Lễ tân · Buồng phòng · F&amp;B · Kế toán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6720840" y="408736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đọc – ghi trên đúng 1 cơ sở dữ liệu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720840" y="5394960"/>
            <a:ext cx="4617720" cy="502920"/>
          </a:xfrm>
          <a:prstGeom prst="roundRect">
            <a:avLst>
              <a:gd name="adj" fmla="val 50909"/>
            </a:avLst>
          </a:prstGeom>
          <a:solidFill>
            <a:srgbClr val="E7F3EC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5486400"/>
            <a:ext cx="320040" cy="32004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269480" y="539496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thời gian thực — không cần chờ xử lý đêm</a:t>
            </a:r>
            <a:endParaRPr lang="en-US" sz="1100" dirty="0"/>
          </a:p>
        </p:txBody>
      </p:sp>
      <p:sp>
        <p:nvSpPr>
          <p:cNvPr id="31" name="Text 2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CORE PMS  ·  TUẦN CHÂU RESORT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DEMO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" cy="9144"/>
          </a:xfrm>
          <a:prstGeom prst="rect">
            <a:avLst/>
          </a:prstGeom>
          <a:noFill/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Hành Trình 1 Ngày Vận Hành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chặng — theo đúng trình tự vận hành thật, để thấy tính liên thông thời gian thực.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52728" y="178308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2923" y="1973275"/>
            <a:ext cx="351130" cy="35113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746504" y="1691640"/>
            <a:ext cx="347472" cy="347472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746504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262432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Lễ Tân &amp;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Phòng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578608" y="2148840"/>
            <a:ext cx="420624" cy="0"/>
          </a:xfrm>
          <a:prstGeom prst="line">
            <a:avLst/>
          </a:prstGeom>
          <a:noFill/>
          <a:ln w="25400">
            <a:solidFill>
              <a:srgbClr val="D3E2EA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3392424" y="178308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619" y="1973275"/>
            <a:ext cx="351130" cy="35113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886200" y="1691640"/>
            <a:ext cx="347472" cy="347472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886200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642616" y="262432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&amp;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Thu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718304" y="2148840"/>
            <a:ext cx="420624" cy="0"/>
          </a:xfrm>
          <a:prstGeom prst="line">
            <a:avLst/>
          </a:prstGeom>
          <a:noFill/>
          <a:ln w="25400">
            <a:solidFill>
              <a:srgbClr val="D3E2EA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5532120" y="178308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315" y="1973275"/>
            <a:ext cx="351130" cy="35113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025896" y="1691640"/>
            <a:ext cx="347472" cy="347472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025896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4782312" y="262432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Buồng Phòng &amp;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Trì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858000" y="2148840"/>
            <a:ext cx="420624" cy="0"/>
          </a:xfrm>
          <a:prstGeom prst="line">
            <a:avLst/>
          </a:prstGeom>
          <a:noFill/>
          <a:ln w="25400">
            <a:solidFill>
              <a:srgbClr val="D3E2EA"/>
            </a:solidFill>
            <a:prstDash val="dash"/>
          </a:ln>
        </p:spPr>
      </p:sp>
      <p:sp>
        <p:nvSpPr>
          <p:cNvPr id="24" name="Shape 19"/>
          <p:cNvSpPr/>
          <p:nvPr/>
        </p:nvSpPr>
        <p:spPr>
          <a:xfrm>
            <a:off x="7671816" y="178308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011" y="1973275"/>
            <a:ext cx="351130" cy="35113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165592" y="1691640"/>
            <a:ext cx="347472" cy="347472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8165592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922008" y="262432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F&amp;B / POS &amp;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Nợ Phòng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8997696" y="2148840"/>
            <a:ext cx="420624" cy="0"/>
          </a:xfrm>
          <a:prstGeom prst="line">
            <a:avLst/>
          </a:prstGeom>
          <a:noFill/>
          <a:ln w="25400">
            <a:solidFill>
              <a:srgbClr val="D3E2EA"/>
            </a:solidFill>
            <a:prstDash val="dash"/>
          </a:ln>
        </p:spPr>
      </p:sp>
      <p:sp>
        <p:nvSpPr>
          <p:cNvPr id="30" name="Shape 24"/>
          <p:cNvSpPr/>
          <p:nvPr/>
        </p:nvSpPr>
        <p:spPr>
          <a:xfrm>
            <a:off x="9811512" y="178308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707" y="1973275"/>
            <a:ext cx="351130" cy="35113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10305288" y="1691640"/>
            <a:ext cx="347472" cy="347472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10305288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9061704" y="262432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&amp;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VietQR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1252728" y="406908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2923" y="4259275"/>
            <a:ext cx="351130" cy="351130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1746504" y="3977640"/>
            <a:ext cx="347472" cy="347472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1746504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502920" y="491032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Check-out &amp;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Soát Nợ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2578608" y="4434840"/>
            <a:ext cx="420624" cy="0"/>
          </a:xfrm>
          <a:prstGeom prst="line">
            <a:avLst/>
          </a:prstGeom>
          <a:noFill/>
          <a:ln w="25400">
            <a:solidFill>
              <a:srgbClr val="D3E2EA"/>
            </a:solidFill>
            <a:prstDash val="dash"/>
          </a:ln>
        </p:spPr>
      </p:sp>
      <p:sp>
        <p:nvSpPr>
          <p:cNvPr id="41" name="Shape 33"/>
          <p:cNvSpPr/>
          <p:nvPr/>
        </p:nvSpPr>
        <p:spPr>
          <a:xfrm>
            <a:off x="3392424" y="406908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2619" y="4259275"/>
            <a:ext cx="351130" cy="351130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3886200" y="3977640"/>
            <a:ext cx="347472" cy="347472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388620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45" name="Text 36"/>
          <p:cNvSpPr txBox="1"/>
          <p:nvPr/>
        </p:nvSpPr>
        <p:spPr>
          <a:xfrm>
            <a:off x="2642616" y="491032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Đoàn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(Group)</a:t>
            </a:r>
            <a:endParaRPr lang="en-US" sz="1150" dirty="0"/>
          </a:p>
        </p:txBody>
      </p:sp>
      <p:sp>
        <p:nvSpPr>
          <p:cNvPr id="46" name="Shape 37"/>
          <p:cNvSpPr/>
          <p:nvPr/>
        </p:nvSpPr>
        <p:spPr>
          <a:xfrm>
            <a:off x="4718304" y="4434840"/>
            <a:ext cx="420624" cy="0"/>
          </a:xfrm>
          <a:prstGeom prst="line">
            <a:avLst/>
          </a:prstGeom>
          <a:noFill/>
          <a:ln w="25400">
            <a:solidFill>
              <a:srgbClr val="D3E2EA"/>
            </a:solidFill>
            <a:prstDash val="dash"/>
          </a:ln>
        </p:spPr>
      </p:sp>
      <p:sp>
        <p:nvSpPr>
          <p:cNvPr id="47" name="Shape 38"/>
          <p:cNvSpPr/>
          <p:nvPr/>
        </p:nvSpPr>
        <p:spPr>
          <a:xfrm>
            <a:off x="5532120" y="406908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2315" y="4259275"/>
            <a:ext cx="351130" cy="351130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6025896" y="3977640"/>
            <a:ext cx="347472" cy="347472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6025896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51" name="Text 41"/>
          <p:cNvSpPr txBox="1"/>
          <p:nvPr/>
        </p:nvSpPr>
        <p:spPr>
          <a:xfrm>
            <a:off x="4782312" y="491032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Đêm Kiểm Toán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(Night Audit)</a:t>
            </a:r>
            <a:endParaRPr lang="en-US" sz="1150" dirty="0"/>
          </a:p>
        </p:txBody>
      </p:sp>
      <p:sp>
        <p:nvSpPr>
          <p:cNvPr id="52" name="Shape 42"/>
          <p:cNvSpPr/>
          <p:nvPr/>
        </p:nvSpPr>
        <p:spPr>
          <a:xfrm>
            <a:off x="6858000" y="4434840"/>
            <a:ext cx="420624" cy="0"/>
          </a:xfrm>
          <a:prstGeom prst="line">
            <a:avLst/>
          </a:prstGeom>
          <a:noFill/>
          <a:ln w="25400">
            <a:solidFill>
              <a:srgbClr val="D3E2EA"/>
            </a:solidFill>
            <a:prstDash val="dash"/>
          </a:ln>
        </p:spPr>
      </p:sp>
      <p:sp>
        <p:nvSpPr>
          <p:cNvPr id="53" name="Shape 43"/>
          <p:cNvSpPr/>
          <p:nvPr/>
        </p:nvSpPr>
        <p:spPr>
          <a:xfrm>
            <a:off x="7671816" y="406908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2011" y="4259275"/>
            <a:ext cx="351130" cy="351130"/>
          </a:xfrm>
          <a:prstGeom prst="rect">
            <a:avLst/>
          </a:prstGeom>
        </p:spPr>
      </p:pic>
      <p:sp>
        <p:nvSpPr>
          <p:cNvPr id="55" name="Shape 44"/>
          <p:cNvSpPr/>
          <p:nvPr/>
        </p:nvSpPr>
        <p:spPr>
          <a:xfrm>
            <a:off x="8165592" y="3977640"/>
            <a:ext cx="347472" cy="347472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45"/>
          <p:cNvSpPr txBox="1"/>
          <p:nvPr/>
        </p:nvSpPr>
        <p:spPr>
          <a:xfrm>
            <a:off x="8165592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57" name="Text 46"/>
          <p:cNvSpPr txBox="1"/>
          <p:nvPr/>
        </p:nvSpPr>
        <p:spPr>
          <a:xfrm>
            <a:off x="6922008" y="491032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Đơn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Tử</a:t>
            </a:r>
            <a:endParaRPr lang="en-US" sz="1150" dirty="0"/>
          </a:p>
        </p:txBody>
      </p:sp>
      <p:sp>
        <p:nvSpPr>
          <p:cNvPr id="58" name="Shape 47"/>
          <p:cNvSpPr/>
          <p:nvPr/>
        </p:nvSpPr>
        <p:spPr>
          <a:xfrm>
            <a:off x="8997696" y="4434840"/>
            <a:ext cx="420624" cy="0"/>
          </a:xfrm>
          <a:prstGeom prst="line">
            <a:avLst/>
          </a:prstGeom>
          <a:noFill/>
          <a:ln w="25400">
            <a:solidFill>
              <a:srgbClr val="D3E2EA"/>
            </a:solidFill>
            <a:prstDash val="dash"/>
          </a:ln>
        </p:spPr>
      </p:sp>
      <p:sp>
        <p:nvSpPr>
          <p:cNvPr id="59" name="Shape 48"/>
          <p:cNvSpPr/>
          <p:nvPr/>
        </p:nvSpPr>
        <p:spPr>
          <a:xfrm>
            <a:off x="9811512" y="406908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01707" y="4259275"/>
            <a:ext cx="351130" cy="351130"/>
          </a:xfrm>
          <a:prstGeom prst="rect">
            <a:avLst/>
          </a:prstGeom>
        </p:spPr>
      </p:pic>
      <p:sp>
        <p:nvSpPr>
          <p:cNvPr id="61" name="Shape 49"/>
          <p:cNvSpPr/>
          <p:nvPr/>
        </p:nvSpPr>
        <p:spPr>
          <a:xfrm>
            <a:off x="10305288" y="3977640"/>
            <a:ext cx="347472" cy="347472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2" name="Text 50"/>
          <p:cNvSpPr txBox="1"/>
          <p:nvPr/>
        </p:nvSpPr>
        <p:spPr>
          <a:xfrm>
            <a:off x="10305288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63" name="Text 51"/>
          <p:cNvSpPr txBox="1"/>
          <p:nvPr/>
        </p:nvSpPr>
        <p:spPr>
          <a:xfrm>
            <a:off x="9061704" y="491032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&amp;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Hành</a:t>
            </a:r>
            <a:endParaRPr lang="en-US" sz="1150" dirty="0"/>
          </a:p>
        </p:txBody>
      </p:sp>
      <p:sp>
        <p:nvSpPr>
          <p:cNvPr id="64" name="Text 5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CORE PMS  ·  TUẦN CHÂU RESORT</a:t>
            </a:r>
            <a:endParaRPr lang="en-US" sz="900" dirty="0"/>
          </a:p>
        </p:txBody>
      </p:sp>
      <p:sp>
        <p:nvSpPr>
          <p:cNvPr id="65" name="Text 53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438912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Lễ Tân &amp; Đặt Phòng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9875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 Console  ·  Tape Chart  ·  Quét CCCD/Hộ chiếu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839041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61872" y="1664208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 Console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261872" y="1975104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thẻ KPI thời gian thực + tìm kiếm thông minh theo tên, SĐT, số phòng, CCCD, mã OTA.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6243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771729"/>
            <a:ext cx="272125" cy="2721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61872" y="2596896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Chart kéo-thả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1261872" y="2907792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buồng trực quan — kéo-thả đổi phòng, tạo đặt phòng nhanh ngay từ ô trống.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5570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70441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61872" y="3529584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phòng đầy đủ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261872" y="3840480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Plan tự áp giá theo mùa vụ và giảm giá theo số đêm lưu trú (LOS).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46520" y="1691640"/>
            <a:ext cx="5193792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1691640"/>
            <a:ext cx="5193792" cy="475488"/>
          </a:xfrm>
          <a:prstGeom prst="roundRect">
            <a:avLst>
              <a:gd name="adj" fmla="val 19231"/>
            </a:avLst>
          </a:prstGeom>
          <a:solidFill>
            <a:srgbClr val="0B4F76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1929384"/>
            <a:ext cx="5193792" cy="237744"/>
          </a:xfrm>
          <a:prstGeom prst="rect">
            <a:avLst/>
          </a:prstGeom>
          <a:solidFill>
            <a:srgbClr val="0B4F76"/>
          </a:solidFill>
          <a:ln/>
        </p:spPr>
      </p:sp>
      <p:sp>
        <p:nvSpPr>
          <p:cNvPr id="22" name="Shape 17"/>
          <p:cNvSpPr/>
          <p:nvPr/>
        </p:nvSpPr>
        <p:spPr>
          <a:xfrm>
            <a:off x="10817352" y="1874520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11018520" y="1874520"/>
            <a:ext cx="100584" cy="100584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11219688" y="1874520"/>
            <a:ext cx="100584" cy="100584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629400" y="1691640"/>
            <a:ext cx="4096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 Console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647688" y="2350008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E9F2F8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2450592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141464" y="2350008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Sắp Đến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647688" y="2935224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BEFDA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416" y="3035808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141464" y="2935224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Lưu Trú  ·  76%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6647688" y="3520440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E9F2F8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3621024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141464" y="3520440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Khả Dụng: 19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6647688" y="4105656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1F6F9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7416" y="420624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141464" y="4105656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Tìm: 09xx xxx xxx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548640" y="4535424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F1F6F9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718304"/>
            <a:ext cx="347472" cy="347472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1234440" y="4590288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thao tác cập nhật ngay lập tức — không cần đợi đồng bộ như 3 phần mềm Smile rời rạc trước đây.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CORE PMS  ·  TUẦN CHÂU RESORT</a:t>
            </a:r>
            <a:endParaRPr lang="en-US" sz="900" dirty="0"/>
          </a:p>
        </p:txBody>
      </p:sp>
      <p:sp>
        <p:nvSpPr>
          <p:cNvPr id="42" name="Text 32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438912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Check-in &amp; Phụ Thu Tự Động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9875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phòng sớm  ·  Mở Folio tự động  ·  Kiểm soát khách Blacklist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839041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61872" y="1664208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tiêu chuẩn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261872" y="1975104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mở Guest Folio và tính tiền phòng đêm đầu tiên — không thao tác thủ công.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6243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771729"/>
            <a:ext cx="272125" cy="2721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61872" y="2596896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nhận phòng sớm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1261872" y="2907792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tính phụ thu theo 3 bậc 100% / 50% / 30% tùy giờ đến, không cần tra bảng giấy.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5570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70441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61872" y="3529584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trong danh sách đen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261872" y="3840480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lưu đặt phòng, bắt buộc Giám sát phê duyệt kèm lý do — lưu vết vĩnh viễn.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46520" y="1691640"/>
            <a:ext cx="5193792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1691640"/>
            <a:ext cx="5193792" cy="475488"/>
          </a:xfrm>
          <a:prstGeom prst="roundRect">
            <a:avLst>
              <a:gd name="adj" fmla="val 19231"/>
            </a:avLst>
          </a:prstGeom>
          <a:solidFill>
            <a:srgbClr val="0B4F76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1929384"/>
            <a:ext cx="5193792" cy="237744"/>
          </a:xfrm>
          <a:prstGeom prst="rect">
            <a:avLst/>
          </a:prstGeom>
          <a:solidFill>
            <a:srgbClr val="0B4F76"/>
          </a:solidFill>
          <a:ln/>
        </p:spPr>
      </p:sp>
      <p:sp>
        <p:nvSpPr>
          <p:cNvPr id="22" name="Shape 17"/>
          <p:cNvSpPr/>
          <p:nvPr/>
        </p:nvSpPr>
        <p:spPr>
          <a:xfrm>
            <a:off x="10817352" y="1874520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11018520" y="1874520"/>
            <a:ext cx="100584" cy="100584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11219688" y="1874520"/>
            <a:ext cx="100584" cy="100584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629400" y="1691640"/>
            <a:ext cx="4096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Phát Hiện Nhận Phòng Sớm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647688" y="2350008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1F6F9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775704" y="2350008"/>
            <a:ext cx="4553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 chuẩn nhận phòng: 14:00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647688" y="2935224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1F6F9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6775704" y="2935224"/>
            <a:ext cx="4553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 khách đến: 10:20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647688" y="3520440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BEFDA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775704" y="3520440"/>
            <a:ext cx="4553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Bậc phụ thu áp dụng: 50%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647688" y="4105656"/>
            <a:ext cx="4791456" cy="475488"/>
          </a:xfrm>
          <a:prstGeom prst="roundRect">
            <a:avLst>
              <a:gd name="adj" fmla="val 53846"/>
            </a:avLst>
          </a:prstGeom>
          <a:solidFill>
            <a:srgbClr val="E8A33D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6720840" y="4105656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Phụ Thu &amp; Check In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6647688" y="4690872"/>
            <a:ext cx="4791456" cy="475488"/>
          </a:xfrm>
          <a:prstGeom prst="roundRect">
            <a:avLst>
              <a:gd name="adj" fmla="val 53846"/>
            </a:avLst>
          </a:prstGeom>
          <a:solidFill>
            <a:srgbClr val="F1F6F9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720840" y="4690872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Miễn Phụ Thu &amp; Check In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548640" y="4535424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E7F3EC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718304"/>
            <a:ext cx="347472" cy="347472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1234440" y="4590288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tự phát hiện — loại bỏ hoàn toàn rủi ro lễ tân quên hoặc tính sai phụ thu.</a:t>
            </a:r>
            <a:endParaRPr lang="en-US" sz="1200" dirty="0"/>
          </a:p>
        </p:txBody>
      </p:sp>
      <p:sp>
        <p:nvSpPr>
          <p:cNvPr id="39" name="Text 3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CORE PMS  ·  TUẦN CHÂU RESORT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438912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Buồng Phòng &amp; Bảo Trì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9875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 Board  ·  Buồng Di Động (PWA)  ·  Báo hỏng tự động khóa phòng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839041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61872" y="1664208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điều phối (máy tính)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261872" y="1975104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1-chạm chuyển đúng bước: Cần dọn → Đang dọn → Đã KT → Sạch.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6243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771729"/>
            <a:ext cx="272125" cy="2721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61872" y="2596896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Buồng Di Động (điện thoại)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1261872" y="2907792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cập nhật tại chỗ — Tape Chart đổi màu ngay, không cần gọi bộ đàm.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5570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70441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61872" y="3529584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hỏng &amp; bảo trì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261872" y="3840480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tự chuyển 'Khóa/Sửa' khi báo hỏng, tự giải phóng khi hoàn tất xử lý.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46520" y="1691640"/>
            <a:ext cx="5193792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1691640"/>
            <a:ext cx="5193792" cy="475488"/>
          </a:xfrm>
          <a:prstGeom prst="roundRect">
            <a:avLst>
              <a:gd name="adj" fmla="val 19231"/>
            </a:avLst>
          </a:prstGeom>
          <a:solidFill>
            <a:srgbClr val="0B4F76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1929384"/>
            <a:ext cx="5193792" cy="237744"/>
          </a:xfrm>
          <a:prstGeom prst="rect">
            <a:avLst/>
          </a:prstGeom>
          <a:solidFill>
            <a:srgbClr val="0B4F76"/>
          </a:solidFill>
          <a:ln/>
        </p:spPr>
      </p:sp>
      <p:sp>
        <p:nvSpPr>
          <p:cNvPr id="22" name="Shape 17"/>
          <p:cNvSpPr/>
          <p:nvPr/>
        </p:nvSpPr>
        <p:spPr>
          <a:xfrm>
            <a:off x="10817352" y="1874520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11018520" y="1874520"/>
            <a:ext cx="100584" cy="100584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11219688" y="1874520"/>
            <a:ext cx="100584" cy="100584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629400" y="1691640"/>
            <a:ext cx="4096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 Board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647688" y="2350008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BEAE8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2450592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141464" y="2350008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305 — Cần dọn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647688" y="2935224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BEFDA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416" y="3035808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141464" y="2935224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306 — Đang dọn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6647688" y="3520440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E7F3EC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3621024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141464" y="3520440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307 — Sạch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6647688" y="4105656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EBEEF0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7416" y="420624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141464" y="4105656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308 — Khóa/Sửa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548640" y="4535424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FBEFDA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718304"/>
            <a:ext cx="347472" cy="347472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1234440" y="4590288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toàn dữ liệu: hệ thống không bao giờ cho đánh dấu 'Sạch' một phòng đang có khách ở.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CORE PMS  ·  TUẦN CHÂU RESORT</a:t>
            </a:r>
            <a:endParaRPr lang="en-US" sz="900" dirty="0"/>
          </a:p>
        </p:txBody>
      </p:sp>
      <p:sp>
        <p:nvSpPr>
          <p:cNvPr id="42" name="Text 32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3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5029200" cy="5029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E8A33D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438912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F&amp;B / POS &amp; Ghi Nợ Về Phòng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KHÁC BIỆT CỐT LÕI SO VỚI SMILE PMS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194767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9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 PMS (CŨ)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24688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2423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order tại Nhà hàng (Smile POS)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09067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30449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bill giấy, ghi tay số phòng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1246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6667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Cuối ngày: Night Audit thủ công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433425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2885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mới về tới Kế toán (Smile BO)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8680" y="5349240"/>
            <a:ext cx="4617720" cy="502920"/>
          </a:xfrm>
          <a:prstGeom prst="roundRect">
            <a:avLst>
              <a:gd name="adj" fmla="val 50909"/>
            </a:avLst>
          </a:prstGeom>
          <a:solidFill>
            <a:srgbClr val="C1443B">
              <a:alpha val="85000"/>
            </a:srgbClr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440680"/>
            <a:ext cx="320040" cy="32004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417320" y="53492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trễ: nhiều giờ đến 1 ngày</a:t>
            </a:r>
            <a:endParaRPr lang="en-US" sz="12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3566160"/>
            <a:ext cx="457200" cy="45720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6382512" y="169164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6702552" y="194767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B4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CORE (MỚI)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6702552" y="2468880"/>
            <a:ext cx="292608" cy="292608"/>
          </a:xfrm>
          <a:prstGeom prst="ellipse">
            <a:avLst/>
          </a:prstGeom>
          <a:solidFill>
            <a:srgbClr val="F1F6F9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702552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7132320" y="2423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ngân chọn 'Guest Account' + số phòng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702552" y="3090672"/>
            <a:ext cx="292608" cy="292608"/>
          </a:xfrm>
          <a:prstGeom prst="ellipse">
            <a:avLst/>
          </a:prstGeom>
          <a:solidFill>
            <a:srgbClr val="F1F6F9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6702552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7132320" y="30449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Submit hóa đơn POS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702552" y="3712464"/>
            <a:ext cx="292608" cy="292608"/>
          </a:xfrm>
          <a:prstGeom prst="ellipse">
            <a:avLst/>
          </a:prstGeom>
          <a:solidFill>
            <a:srgbClr val="F1F6F9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6702552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7132320" y="36667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khách cập nhật ngay lập tức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6702552" y="4334256"/>
            <a:ext cx="292608" cy="292608"/>
          </a:xfrm>
          <a:prstGeom prst="ellipse">
            <a:avLst/>
          </a:prstGeom>
          <a:solidFill>
            <a:srgbClr val="F1F6F9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6702552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7132320" y="42885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toán thấy số dư mới tức thời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6702552" y="5349240"/>
            <a:ext cx="4617720" cy="502920"/>
          </a:xfrm>
          <a:prstGeom prst="roundRect">
            <a:avLst>
              <a:gd name="adj" fmla="val 50909"/>
            </a:avLst>
          </a:prstGeom>
          <a:solidFill>
            <a:srgbClr val="2E8B57"/>
          </a:solidFill>
          <a:ln/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5440680"/>
            <a:ext cx="320040" cy="320040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7251192" y="53492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trễ: tức thời (0 giây)</a:t>
            </a:r>
            <a:endParaRPr lang="en-US" sz="1200" dirty="0"/>
          </a:p>
        </p:txBody>
      </p:sp>
      <p:sp>
        <p:nvSpPr>
          <p:cNvPr id="43" name="Text 3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CORE PMS  ·  TUẦN CHÂU RESORT</a:t>
            </a:r>
            <a:endParaRPr lang="en-US" sz="900" dirty="0"/>
          </a:p>
        </p:txBody>
      </p:sp>
      <p:sp>
        <p:nvSpPr>
          <p:cNvPr id="44" name="Text 3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438912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Thanh Toán &amp; VietQR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9875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mã QR chuyển khoản tức thời — không cần máy POS thẻ riêng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839041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61872" y="1664208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VietQR nhanh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261872" y="1975104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điền đúng số dư còn nợ và số phòng — 1 chạm từ Front Desk Console.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6243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771729"/>
            <a:ext cx="272125" cy="2721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61872" y="2596896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NAPAS 247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1261872" y="2907792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quét bằng bất kỳ app ngân hàng nào — không phí giao dịch, không phần cứng thêm.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5570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70441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61872" y="3529584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thanh toán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261872" y="3840480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thủ công sau khi nhận tiền — số dư Folio về 0 ngay lập tức.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46520" y="1691640"/>
            <a:ext cx="5193792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1691640"/>
            <a:ext cx="5193792" cy="475488"/>
          </a:xfrm>
          <a:prstGeom prst="roundRect">
            <a:avLst>
              <a:gd name="adj" fmla="val 19231"/>
            </a:avLst>
          </a:prstGeom>
          <a:solidFill>
            <a:srgbClr val="0B4F76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1929384"/>
            <a:ext cx="5193792" cy="237744"/>
          </a:xfrm>
          <a:prstGeom prst="rect">
            <a:avLst/>
          </a:prstGeom>
          <a:solidFill>
            <a:srgbClr val="0B4F76"/>
          </a:solidFill>
          <a:ln/>
        </p:spPr>
      </p:sp>
      <p:sp>
        <p:nvSpPr>
          <p:cNvPr id="22" name="Shape 17"/>
          <p:cNvSpPr/>
          <p:nvPr/>
        </p:nvSpPr>
        <p:spPr>
          <a:xfrm>
            <a:off x="10817352" y="1874520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11018520" y="1874520"/>
            <a:ext cx="100584" cy="100584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11219688" y="1874520"/>
            <a:ext cx="100584" cy="100584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629400" y="1691640"/>
            <a:ext cx="4096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Tạo VietQR Nhanh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647688" y="2350008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1F6F9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2450592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141464" y="2350008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Văn Demo — Phòng 305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647688" y="2935224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BEFDA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416" y="3035808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141464" y="2935224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Còn nợ: 200.000 đ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6647688" y="3520440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E9F2F8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3621024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141464" y="3520440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QR VietQR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6647688" y="4105656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1F6F9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7416" y="420624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141464" y="4105656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 CK: FOLIO00184 P305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548640" y="4535424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FBEFDA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718304"/>
            <a:ext cx="347472" cy="347472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1234440" y="4590288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ý: đây là VietQR (chuyển khoản ngân hàng), khác với cổng thanh toán trực tuyến VNPAY.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CORE PMS  ·  TUẦN CHÂU RESORT</a:t>
            </a:r>
            <a:endParaRPr lang="en-US" sz="900" dirty="0"/>
          </a:p>
        </p:txBody>
      </p:sp>
      <p:sp>
        <p:nvSpPr>
          <p:cNvPr id="42" name="Text 32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438912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Check-out &amp; Kiểm Soát Công Nợ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9875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cứng khi còn nợ  ·  Phụ thu trả phòng muộn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839041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61872" y="1664208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Check-out khi đã thanh toán đủ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261872" y="1975104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tự chuyển 'Bẩn' để bộ phận Buồng phòng biết dọn ngay.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6243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1443B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771729"/>
            <a:ext cx="272125" cy="2721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61872" y="2596896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khi còn dư nợ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1261872" y="2907792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từ chối check-out — loại bỏ lỗ hổng phổ biến nhất: bỏ sót công nợ khách.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5570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70441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61872" y="3529584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phòng muộn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261872" y="3840480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phát hiện và tính phụ thu theo 3 bậc, tương tự lúc nhận phòng sớm.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46520" y="1691640"/>
            <a:ext cx="5193792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1691640"/>
            <a:ext cx="5193792" cy="475488"/>
          </a:xfrm>
          <a:prstGeom prst="roundRect">
            <a:avLst>
              <a:gd name="adj" fmla="val 19231"/>
            </a:avLst>
          </a:prstGeom>
          <a:solidFill>
            <a:srgbClr val="C1443B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1929384"/>
            <a:ext cx="5193792" cy="237744"/>
          </a:xfrm>
          <a:prstGeom prst="rect">
            <a:avLst/>
          </a:prstGeom>
          <a:solidFill>
            <a:srgbClr val="C1443B"/>
          </a:solidFill>
          <a:ln/>
        </p:spPr>
      </p:sp>
      <p:sp>
        <p:nvSpPr>
          <p:cNvPr id="22" name="Shape 17"/>
          <p:cNvSpPr/>
          <p:nvPr/>
        </p:nvSpPr>
        <p:spPr>
          <a:xfrm>
            <a:off x="10817352" y="1874520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11018520" y="1874520"/>
            <a:ext cx="100584" cy="100584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11219688" y="1874520"/>
            <a:ext cx="100584" cy="100584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629400" y="1691640"/>
            <a:ext cx="4096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Out — Phòng 412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647688" y="2350008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BEAE8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2450592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141464" y="2350008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Balance: 1.250.000 đ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647688" y="2935224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BEAE8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416" y="3035808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141464" y="2935224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Check Out.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6647688" y="3520440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BEAE8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6775704" y="3520440"/>
            <a:ext cx="4553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balance remains.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647688" y="4105656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1F6F9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6775704" y="4105656"/>
            <a:ext cx="4553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thanh toán trước khi trả phòng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" y="4535424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FBEAE8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718304"/>
            <a:ext cx="347472" cy="34747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234440" y="4590288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nhấn kiểm soát rủi ro: không thể trả phòng 'quên' thu tiền như đôi khi xảy ra ở hệ thống cũ.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CORE PMS  ·  TUẦN CHÂU RESORT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438912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Đặt Đoàn (Group Booking)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9875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hàng loạt  ·  Check-in/out cả đoàn  ·  Công nợ tập trung 1 đầu mối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839041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61872" y="1664208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Reserve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261872" y="1975104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hạng phòng và số lượng — hệ thống tự gán phòng, không đặt tay từng phòng.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6243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771729"/>
            <a:ext cx="272125" cy="2721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61872" y="2596896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/ Out cả đoàn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1261872" y="2907792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toàn bộ khách trong đoàn cùng lúc, chỉ trong 1 lượt thao tác.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5570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70441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61872" y="3529584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Folio đoàn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261872" y="3840480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chi tiêu dồn về 1 nơi — công ty/đại lý thanh toán tập trung, dễ đối soát.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46520" y="1691640"/>
            <a:ext cx="5193792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1691640"/>
            <a:ext cx="5193792" cy="475488"/>
          </a:xfrm>
          <a:prstGeom prst="roundRect">
            <a:avLst>
              <a:gd name="adj" fmla="val 19231"/>
            </a:avLst>
          </a:prstGeom>
          <a:solidFill>
            <a:srgbClr val="0B4F76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1929384"/>
            <a:ext cx="5193792" cy="237744"/>
          </a:xfrm>
          <a:prstGeom prst="rect">
            <a:avLst/>
          </a:prstGeom>
          <a:solidFill>
            <a:srgbClr val="0B4F76"/>
          </a:solidFill>
          <a:ln/>
        </p:spPr>
      </p:sp>
      <p:sp>
        <p:nvSpPr>
          <p:cNvPr id="22" name="Shape 17"/>
          <p:cNvSpPr/>
          <p:nvPr/>
        </p:nvSpPr>
        <p:spPr>
          <a:xfrm>
            <a:off x="10817352" y="1874520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11018520" y="1874520"/>
            <a:ext cx="100584" cy="100584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11219688" y="1874520"/>
            <a:ext cx="100584" cy="100584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629400" y="1691640"/>
            <a:ext cx="4096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Đoàn: Công Ty XYZ — 5 phòng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647688" y="2350008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1F6F9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2450592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141464" y="2350008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thái: Confirmed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647688" y="2935224"/>
            <a:ext cx="4791456" cy="475488"/>
          </a:xfrm>
          <a:prstGeom prst="roundRect">
            <a:avLst>
              <a:gd name="adj" fmla="val 53846"/>
            </a:avLst>
          </a:prstGeom>
          <a:solidFill>
            <a:srgbClr val="F1F6F9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720840" y="2935224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Reserve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6647688" y="3520440"/>
            <a:ext cx="4791456" cy="475488"/>
          </a:xfrm>
          <a:prstGeom prst="roundRect">
            <a:avLst>
              <a:gd name="adj" fmla="val 53846"/>
            </a:avLst>
          </a:prstGeom>
          <a:solidFill>
            <a:srgbClr val="E8A33D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720840" y="3520440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Group (5)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647688" y="4105656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BEFDA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416" y="4206240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141464" y="4105656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Folio: 4.850.000 đ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" y="4535424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F1F6F9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718304"/>
            <a:ext cx="347472" cy="34747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234440" y="4590288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soát tín dụng: nếu công ty/đại lý đứng sau đoàn đang vượt hạn mức (mức Đỏ), hệ thống tự chặn check-in.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CORE PMS  ·  TUẦN CHÂU RESORT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438912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Đêm Kiểm Toán (Night Audit)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9875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hoàn toàn — chạy mỗi đêm, lưu lịch sử vĩnh viễn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5B7C8D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839041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61872" y="1664208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Hủy no-show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261872" y="1975104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hủy khách không đến, tự hoàn tiền cọc dư vào sổ tín dụng khách.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6243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771729"/>
            <a:ext cx="272125" cy="2721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61872" y="2596896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overstay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1261872" y="2907792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gia hạn khách ở quá hạn, tự tính tiền phòng đêm mới — không tính trùng.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5570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70441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61872" y="3529584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chéo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261872" y="3840480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khớp Phòng ↔ Đặt phòng ↔ Folio để phát hiện bất thường cần xử lý.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46520" y="1691640"/>
            <a:ext cx="5193792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1691640"/>
            <a:ext cx="5193792" cy="475488"/>
          </a:xfrm>
          <a:prstGeom prst="roundRect">
            <a:avLst>
              <a:gd name="adj" fmla="val 19231"/>
            </a:avLst>
          </a:prstGeom>
          <a:solidFill>
            <a:srgbClr val="0B4F76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1929384"/>
            <a:ext cx="5193792" cy="237744"/>
          </a:xfrm>
          <a:prstGeom prst="rect">
            <a:avLst/>
          </a:prstGeom>
          <a:solidFill>
            <a:srgbClr val="0B4F76"/>
          </a:solidFill>
          <a:ln/>
        </p:spPr>
      </p:sp>
      <p:sp>
        <p:nvSpPr>
          <p:cNvPr id="22" name="Shape 17"/>
          <p:cNvSpPr/>
          <p:nvPr/>
        </p:nvSpPr>
        <p:spPr>
          <a:xfrm>
            <a:off x="10817352" y="1874520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11018520" y="1874520"/>
            <a:ext cx="100584" cy="100584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11219688" y="1874520"/>
            <a:ext cx="100584" cy="100584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629400" y="1691640"/>
            <a:ext cx="4096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Audit Log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647688" y="2350008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1F6F9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2450592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141464" y="2350008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No-show đã hủy: 1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647688" y="2935224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1F6F9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416" y="3035808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141464" y="2935224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phòng overstay: 2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6647688" y="3520440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1F6F9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3621024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141464" y="3520440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phòng đã tính tiền: 61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6647688" y="4105656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E7F3EC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7416" y="420624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141464" y="4105656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lệch đối chiếu: 0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548640" y="4535424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E7F3EC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718304"/>
            <a:ext cx="347472" cy="347472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1234440" y="4590288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 biệt lớn: toàn bộ lịch sử được lưu vĩnh viễn — hệ thống cũ có rủi ro mất báo cáo ngày hôm trước.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CORE PMS  ·  TUẦN CHÂU RESORT</a:t>
            </a:r>
            <a:endParaRPr lang="en-US" sz="900" dirty="0"/>
          </a:p>
        </p:txBody>
      </p:sp>
      <p:sp>
        <p:nvSpPr>
          <p:cNvPr id="42" name="Text 32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438912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Hóa Đơn Điện Tử (HĐĐT)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BEFD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289304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demo ở chế độ SANDBOX/THỬ NGHIỆM — chưa gửi Cơ Quan Thuế thật.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1488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29624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61872" y="2121408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phát hành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1261872" y="2432304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hóa đơn → menu HĐĐT → 'Phát hành' → nhận Số HĐ / Mã tra cứu / Mã CQT.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10896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97F1E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25636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61872" y="3081528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báo Sandbox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1261872" y="3392424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trạng thái màu cam khi thử nghiệm — chuyển xanh khi phát hành thật.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06908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4216481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61872" y="4041648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sàng kỹ thuật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1261872" y="4352544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tầng đã sẵn sàng kết nối MISA/Viettel/VNPT — chỉ còn chờ hợp đồng nhà cung cấp.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46520" y="2148840"/>
            <a:ext cx="5193792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46520" y="2148840"/>
            <a:ext cx="5193792" cy="475488"/>
          </a:xfrm>
          <a:prstGeom prst="roundRect">
            <a:avLst>
              <a:gd name="adj" fmla="val 19231"/>
            </a:avLst>
          </a:prstGeom>
          <a:solidFill>
            <a:srgbClr val="0B4F76"/>
          </a:solidFill>
          <a:ln/>
        </p:spPr>
      </p:sp>
      <p:sp>
        <p:nvSpPr>
          <p:cNvPr id="23" name="Shape 17"/>
          <p:cNvSpPr/>
          <p:nvPr/>
        </p:nvSpPr>
        <p:spPr>
          <a:xfrm>
            <a:off x="6446520" y="2386584"/>
            <a:ext cx="5193792" cy="237744"/>
          </a:xfrm>
          <a:prstGeom prst="rect">
            <a:avLst/>
          </a:prstGeom>
          <a:solidFill>
            <a:srgbClr val="0B4F76"/>
          </a:solidFill>
          <a:ln/>
        </p:spPr>
      </p:sp>
      <p:sp>
        <p:nvSpPr>
          <p:cNvPr id="24" name="Shape 18"/>
          <p:cNvSpPr/>
          <p:nvPr/>
        </p:nvSpPr>
        <p:spPr>
          <a:xfrm>
            <a:off x="10817352" y="2331720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11018520" y="2331720"/>
            <a:ext cx="100584" cy="100584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11219688" y="2331720"/>
            <a:ext cx="100584" cy="100584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629400" y="2148840"/>
            <a:ext cx="4096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Đơn Điện Tử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6647688" y="2807208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BEFDA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416" y="2907792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141464" y="2807208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thái: Thử nghiệm (Sandbox)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647688" y="3392424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1F6F9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349300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141464" y="3392424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HĐ: MOCK-000152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647688" y="3977640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1F6F9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7416" y="4078224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141464" y="3977640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tra cứu: MOCK-TC-9931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6647688" y="4562856"/>
            <a:ext cx="4791456" cy="475488"/>
          </a:xfrm>
          <a:prstGeom prst="roundRect">
            <a:avLst>
              <a:gd name="adj" fmla="val 11538"/>
            </a:avLst>
          </a:prstGeom>
          <a:solidFill>
            <a:srgbClr val="FBEAE8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7416" y="4663440"/>
            <a:ext cx="274320" cy="27432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141464" y="4562856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gửi Cơ Quan Thuế thật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CORE PMS  ·  TUẦN CHÂU RESORT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438912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Báo Cáo &amp; Điều Hành Thời Gian Thực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9875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Giám Đốc xem trực tiếp trên điện thoại — không cần chờ kế toán tổng hợp Excel.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0" y="5486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 w="9525">
            <a:solidFill>
              <a:srgbClr val="CFC9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548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MINH HỌA</a:t>
            </a:r>
            <a:endParaRPr lang="en-US" sz="8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37360"/>
          <a:ext cx="35661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2880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4F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LẤP ĐẦY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173736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759" y="186811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93792" y="16642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1,85tr đ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5193792" y="21214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— Giá TB/Phòng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0" y="283464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759" y="296539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93792" y="27614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1,41tr đ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5193792" y="3218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RevPAR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0" y="39319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759" y="406267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193792" y="3858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5193792" y="43159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Nợ Đang Mở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818120" y="173736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992" y="1856232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366760" y="16916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Frontdesk EOD Report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8366760" y="19842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 cuối ngày của lễ tân.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7818120" y="260604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6992" y="2724912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366760" y="25603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Ledger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8366760" y="28529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mức tín dụng Xanh/Vàng/Đỏ.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7818120" y="34747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6992" y="3593592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366760" y="34290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Report</a:t>
            </a:r>
            <a:endParaRPr lang="en-US" sz="1250" dirty="0"/>
          </a:p>
        </p:txBody>
      </p:sp>
      <p:sp>
        <p:nvSpPr>
          <p:cNvPr id="35" name="Text 26"/>
          <p:cNvSpPr txBox="1"/>
          <p:nvPr/>
        </p:nvSpPr>
        <p:spPr>
          <a:xfrm>
            <a:off x="8366760" y="37216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theo phòng, kèm ADR/RevPAR.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7818120" y="43434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6992" y="4462272"/>
            <a:ext cx="219456" cy="219456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366760" y="42976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báo cáo vận hành</a:t>
            </a:r>
            <a:endParaRPr lang="en-US" sz="1250" dirty="0"/>
          </a:p>
        </p:txBody>
      </p:sp>
      <p:sp>
        <p:nvSpPr>
          <p:cNvPr id="39" name="Text 29"/>
          <p:cNvSpPr txBox="1"/>
          <p:nvPr/>
        </p:nvSpPr>
        <p:spPr>
          <a:xfrm>
            <a:off x="8366760" y="45902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chính, vận hành, khai báo công an.</a:t>
            </a:r>
            <a:endParaRPr lang="en-US" sz="1000" dirty="0"/>
          </a:p>
        </p:txBody>
      </p:sp>
      <p:sp>
        <p:nvSpPr>
          <p:cNvPr id="40" name="Text 3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CORE PMS  ·  TUẦN CHÂU RESORT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3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CHẤT LƯỢNG &amp; ĐỘ TIN CẬY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Đã Kiểm Thử Sống Trước Khi Demo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chỉ rà soát mã nguồn tĩnh — mọi luồng đã chạy thật trên cơ sở dữ liệu thử nghiệm (Docker/MariaDB).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0B4F7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00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kịch bản kiểm thử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21488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0B4F7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37560" y="23317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312+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200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kiểm thử sống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21488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0B4F7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23317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3200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được kiểm thử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15400" y="21488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0B4F7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15400" y="23317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3200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hồi quy còn tồn tại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BEFDA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389120"/>
            <a:ext cx="347472" cy="347472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234440" y="4261104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kiểm thử trên chạy trên môi trường Docker cục bộ — cần deploy lại và smoke-test trên đúng server Demo/UAT thật trước khi vận hành thật.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CORE PMS  ·  TUẦN CHÂU RESORT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QUYẾT ĐỊNH / BÊN THỨ BA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Lộ Trình Hoàn Thiện Tiếp Theo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hạng mục cần bên thứ ba hoặc quyết định kinh doanh — không thể hoàn thiện chỉ bằng viết thêm mã nguồn.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85232" cy="1965960"/>
          </a:xfrm>
          <a:prstGeom prst="roundRect">
            <a:avLst>
              <a:gd name="adj" fmla="val 4651"/>
            </a:avLst>
          </a:prstGeom>
          <a:solidFill>
            <a:srgbClr val="F1F6F9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40280"/>
            <a:ext cx="621792" cy="621792"/>
          </a:xfrm>
          <a:prstGeom prst="roundRect">
            <a:avLst>
              <a:gd name="adj" fmla="val 28000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626" y="2401946"/>
            <a:ext cx="298460" cy="298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27632" y="224028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Thẻ Từ Vật Lý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627632" y="2624328"/>
            <a:ext cx="3959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SDK/tài liệu kỹ thuật thật từ hãng khóa (Hune/Orbita/VingCard). Có phương án dự phòng bằng phần mềm ghi thẻ độc lập trong lúc chờ.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53912" y="1965960"/>
            <a:ext cx="5285232" cy="1965960"/>
          </a:xfrm>
          <a:prstGeom prst="roundRect">
            <a:avLst>
              <a:gd name="adj" fmla="val 4651"/>
            </a:avLst>
          </a:prstGeom>
          <a:solidFill>
            <a:srgbClr val="F1F6F9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2240280"/>
            <a:ext cx="621792" cy="621792"/>
          </a:xfrm>
          <a:prstGeom prst="roundRect">
            <a:avLst>
              <a:gd name="adj" fmla="val 28000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898" y="2401946"/>
            <a:ext cx="298460" cy="298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32904" y="224028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Quét Ảnh CCCD/Passport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232904" y="2624328"/>
            <a:ext cx="3959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phân tích dữ liệu đã sẵn sàng đầy đủ — chỉ còn chọn nhà cung cấp API OCR (FPT.AI / Google Vision).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187952"/>
            <a:ext cx="5285232" cy="1965960"/>
          </a:xfrm>
          <a:prstGeom prst="roundRect">
            <a:avLst>
              <a:gd name="adj" fmla="val 4651"/>
            </a:avLst>
          </a:prstGeom>
          <a:solidFill>
            <a:srgbClr val="F1F6F9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462272"/>
            <a:ext cx="621792" cy="621792"/>
          </a:xfrm>
          <a:prstGeom prst="roundRect">
            <a:avLst>
              <a:gd name="adj" fmla="val 28000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626" y="4623938"/>
            <a:ext cx="298460" cy="298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27632" y="446227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OTA 2 Chiều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627632" y="4846320"/>
            <a:ext cx="3959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Chiều nhận đặt phòng đã hoạt động tốt. Chiều đẩy giá/phòng lên Agoda/Booking.com cần hợp đồng Channel Manager.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53912" y="4187952"/>
            <a:ext cx="5285232" cy="1965960"/>
          </a:xfrm>
          <a:prstGeom prst="roundRect">
            <a:avLst>
              <a:gd name="adj" fmla="val 4651"/>
            </a:avLst>
          </a:prstGeom>
          <a:solidFill>
            <a:srgbClr val="F1F6F9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28232" y="4462272"/>
            <a:ext cx="621792" cy="621792"/>
          </a:xfrm>
          <a:prstGeom prst="roundRect">
            <a:avLst>
              <a:gd name="adj" fmla="val 28000"/>
            </a:avLst>
          </a:prstGeom>
          <a:solidFill>
            <a:srgbClr val="0B4F76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898" y="4623938"/>
            <a:ext cx="298460" cy="2984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32904" y="446227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Đơn Điện Tử Thật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232904" y="4846320"/>
            <a:ext cx="3959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tầng kỹ thuật đã sẵn sàng (đã demo Sandbox) — cần cài đặt và hợp đồng nhà cung cấp MISA/Viettel/VNPT.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CORE PMS  ·  TUẦN CHÂU RESORT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3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3657600"/>
            <a:ext cx="5669280" cy="566928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4937760"/>
            <a:ext cx="3291840" cy="3291840"/>
          </a:xfrm>
          <a:prstGeom prst="ellipse">
            <a:avLst/>
          </a:prstGeom>
          <a:solidFill>
            <a:srgbClr val="E8A33D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25146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Quý Vị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3649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Đáp &amp; Thảo Luận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97280" y="4160520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B2338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4279392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4233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Công Tác Dự Án ERP  ·  Tập Đoàn Tuần Châu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2026-09-10T17:28:09Z</dcterms:created>
  <dcterms:modified xsi:type="dcterms:W3CDTF">2026-09-10T17:28:09Z</dcterms:modified>
</cp:coreProperties>
</file>